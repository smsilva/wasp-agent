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935088E2-C5DB-4980-8956-AC996C1B4914}" type="slidenum"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611A68A-9C0B-42C2-A99F-CCDE964719C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12528EA-7347-4ED3-A2ED-55216EB9406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D02D2A9-0714-4630-A099-4A0531BBD37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DCABC74-669C-4A60-BDDC-20D36ECD0C8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DB953EE-9EC6-4078-98BB-06F23229358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D77CDA7-E177-4FD2-B4B1-E40D690064E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477B6E1-8645-4223-8F91-F6DB8E7A3BD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F945E2A-A385-4141-8A94-055D8DBCE5F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016A61D-15E2-45F0-8A7A-3E189C3410F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6499E5B-3304-4479-A41A-321FB0F65B9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88A24EE-5A30-4DF6-91B3-3D8E26AF943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7303F21-3232-4878-BE1E-EFB10CDDE60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8E2BD7E-30C6-474A-961C-818318C1724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756C91D-2D2D-4411-A790-C49B845A509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217F22F-E003-4EE3-8EEA-4BE54C7DAA8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8291D04-0408-4F30-A40A-CF6906DB3FD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02279B5-E983-4E55-B8B8-66D6CE0BE0B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E354302-026B-4E24-9B33-1F807D924D0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F860A3A-19AA-42C7-A450-FEBC4E3DBB4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376D0A7-65CF-45EC-BA01-F6B1923F693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 passo 'Upload Claude execution log' do workflow jira-agent.yaml é gated por if: failure() + retention-days: 7. Runs verdes não anexam artefato; runs com falha anexam claude-execution-log-&lt;ISSUE_KEY&gt;.tar.gz para post-mortem (body da issue + tool outputs do agente), descartado em 7 dias. Documentado em SEC-008.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D566E91-9C22-4930-A326-A13FF9E7D6F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E90A8F2-A311-4D9B-891C-2D841A8343E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D5456E1-85D9-4449-A629-DCA78DFAF2C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A9A19FA-7F78-4883-B65D-398D8A85EFF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231566F-5149-43D6-99EB-1EE47500813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79C9043-641D-48A1-9D74-C710C5CA6CB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A7423E8-F2FD-4FB7-A870-3F0EBB24177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C43EBC3-4374-4A92-9001-C7A58EA1782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C76EB49-3A27-409C-8B17-1A7CBA81642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457200" y="1920240"/>
            <a:ext cx="822852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800" spc="-1" strike="noStrike">
                <a:solidFill>
                  <a:srgbClr val="ffffff"/>
                </a:solidFill>
                <a:latin typeface="Calibri"/>
                <a:ea typeface="Calibri"/>
              </a:rPr>
              <a:t>Jira Coding Agent</a:t>
            </a:r>
            <a:endParaRPr b="0" lang="pt-BR" sz="4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0"/>
          <p:cNvSpPr/>
          <p:nvPr/>
        </p:nvSpPr>
        <p:spPr>
          <a:xfrm>
            <a:off x="457200" y="1920240"/>
            <a:ext cx="822852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800" spc="-1" strike="noStrike">
                <a:solidFill>
                  <a:srgbClr val="888888"/>
                </a:solidFill>
                <a:latin typeface="Calibri"/>
                <a:ea typeface="Calibri"/>
              </a:rPr>
              <a:t>Jira Coding Agent</a:t>
            </a:r>
            <a:endParaRPr b="0" lang="pt-BR" sz="4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 1"/>
          <p:cNvSpPr/>
          <p:nvPr/>
        </p:nvSpPr>
        <p:spPr>
          <a:xfrm>
            <a:off x="457200" y="310896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From ticket to Pull Request: delegating to an agent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0"/>
          <p:cNvSpPr/>
          <p:nvPr/>
        </p:nvSpPr>
        <p:spPr>
          <a:xfrm>
            <a:off x="457200" y="292680"/>
            <a:ext cx="54853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293" strike="noStrike">
                <a:solidFill>
                  <a:srgbClr val="ffffff"/>
                </a:solidFill>
                <a:latin typeface="Calibri"/>
                <a:ea typeface="Calibri"/>
              </a:rPr>
              <a:t>MOTIVATION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Text 1"/>
          <p:cNvSpPr/>
          <p:nvPr/>
        </p:nvSpPr>
        <p:spPr>
          <a:xfrm>
            <a:off x="457200" y="1005840"/>
            <a:ext cx="822852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  <a:ea typeface="Calibri"/>
              </a:rPr>
              <a:t>Repetitive work</a:t>
            </a:r>
            <a:endParaRPr b="0" lang="pt-BR" sz="3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0"/>
          <p:cNvSpPr/>
          <p:nvPr/>
        </p:nvSpPr>
        <p:spPr>
          <a:xfrm>
            <a:off x="457200" y="292680"/>
            <a:ext cx="54853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293" strike="noStrike">
                <a:solidFill>
                  <a:srgbClr val="ffffff"/>
                </a:solidFill>
                <a:latin typeface="Calibri"/>
                <a:ea typeface="Calibri"/>
              </a:rPr>
              <a:t>MOTIVATION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Text 1"/>
          <p:cNvSpPr/>
          <p:nvPr/>
        </p:nvSpPr>
        <p:spPr>
          <a:xfrm>
            <a:off x="457200" y="1005840"/>
            <a:ext cx="822852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000" spc="-1" strike="noStrike">
                <a:solidFill>
                  <a:srgbClr val="666666"/>
                </a:solidFill>
                <a:latin typeface="Calibri"/>
                <a:ea typeface="Calibri"/>
              </a:rPr>
              <a:t>Repetitive work</a:t>
            </a:r>
            <a:endParaRPr b="0" lang="pt-BR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 2"/>
          <p:cNvSpPr/>
          <p:nvPr/>
        </p:nvSpPr>
        <p:spPr>
          <a:xfrm>
            <a:off x="457200" y="1737360"/>
            <a:ext cx="822852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  <a:ea typeface="Calibri"/>
              </a:rPr>
              <a:t>Plan execution</a:t>
            </a:r>
            <a:endParaRPr b="0" lang="pt-BR" sz="3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0"/>
          <p:cNvSpPr/>
          <p:nvPr/>
        </p:nvSpPr>
        <p:spPr>
          <a:xfrm>
            <a:off x="457200" y="292680"/>
            <a:ext cx="54853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293" strike="noStrike">
                <a:solidFill>
                  <a:srgbClr val="ffffff"/>
                </a:solidFill>
                <a:latin typeface="Calibri"/>
                <a:ea typeface="Calibri"/>
              </a:rPr>
              <a:t>MOTIVATION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Text 1"/>
          <p:cNvSpPr/>
          <p:nvPr/>
        </p:nvSpPr>
        <p:spPr>
          <a:xfrm>
            <a:off x="457200" y="1005840"/>
            <a:ext cx="822852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000" spc="-1" strike="noStrike">
                <a:solidFill>
                  <a:srgbClr val="666666"/>
                </a:solidFill>
                <a:latin typeface="Calibri"/>
                <a:ea typeface="Calibri"/>
              </a:rPr>
              <a:t>Repetitive work</a:t>
            </a:r>
            <a:endParaRPr b="0" lang="pt-BR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Text 2"/>
          <p:cNvSpPr/>
          <p:nvPr/>
        </p:nvSpPr>
        <p:spPr>
          <a:xfrm>
            <a:off x="457200" y="1737360"/>
            <a:ext cx="822852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000" spc="-1" strike="noStrike">
                <a:solidFill>
                  <a:srgbClr val="666666"/>
                </a:solidFill>
                <a:latin typeface="Calibri"/>
                <a:ea typeface="Calibri"/>
              </a:rPr>
              <a:t>Plan execution</a:t>
            </a:r>
            <a:endParaRPr b="0" lang="pt-BR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Text 3"/>
          <p:cNvSpPr/>
          <p:nvPr/>
        </p:nvSpPr>
        <p:spPr>
          <a:xfrm>
            <a:off x="457200" y="2468880"/>
            <a:ext cx="822852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  <a:ea typeface="Calibri"/>
              </a:rPr>
              <a:t>Local machine running</a:t>
            </a:r>
            <a:endParaRPr b="0" lang="pt-BR" sz="3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0"/>
          <p:cNvSpPr/>
          <p:nvPr/>
        </p:nvSpPr>
        <p:spPr>
          <a:xfrm>
            <a:off x="457200" y="292680"/>
            <a:ext cx="54853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293" strike="noStrike">
                <a:solidFill>
                  <a:srgbClr val="ffffff"/>
                </a:solidFill>
                <a:latin typeface="Calibri"/>
                <a:ea typeface="Calibri"/>
              </a:rPr>
              <a:t>MOTIVATION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Text 1"/>
          <p:cNvSpPr/>
          <p:nvPr/>
        </p:nvSpPr>
        <p:spPr>
          <a:xfrm>
            <a:off x="457200" y="1005840"/>
            <a:ext cx="822852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000" spc="-1" strike="noStrike">
                <a:solidFill>
                  <a:srgbClr val="666666"/>
                </a:solidFill>
                <a:latin typeface="Calibri"/>
                <a:ea typeface="Calibri"/>
              </a:rPr>
              <a:t>Repetitive work</a:t>
            </a:r>
            <a:endParaRPr b="0" lang="pt-BR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Text 2"/>
          <p:cNvSpPr/>
          <p:nvPr/>
        </p:nvSpPr>
        <p:spPr>
          <a:xfrm>
            <a:off x="457200" y="1737360"/>
            <a:ext cx="822852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000" spc="-1" strike="noStrike">
                <a:solidFill>
                  <a:srgbClr val="666666"/>
                </a:solidFill>
                <a:latin typeface="Calibri"/>
                <a:ea typeface="Calibri"/>
              </a:rPr>
              <a:t>Plan execution</a:t>
            </a:r>
            <a:endParaRPr b="0" lang="pt-BR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Text 3"/>
          <p:cNvSpPr/>
          <p:nvPr/>
        </p:nvSpPr>
        <p:spPr>
          <a:xfrm>
            <a:off x="457200" y="2468880"/>
            <a:ext cx="822852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000" spc="-1" strike="noStrike">
                <a:solidFill>
                  <a:srgbClr val="666666"/>
                </a:solidFill>
                <a:latin typeface="Calibri"/>
                <a:ea typeface="Calibri"/>
              </a:rPr>
              <a:t>Local machine running</a:t>
            </a:r>
            <a:endParaRPr b="0" lang="pt-BR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Text 4"/>
          <p:cNvSpPr/>
          <p:nvPr/>
        </p:nvSpPr>
        <p:spPr>
          <a:xfrm>
            <a:off x="457200" y="3200400"/>
            <a:ext cx="822852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  <a:ea typeface="Calibri"/>
              </a:rPr>
              <a:t>Developer barely waiting</a:t>
            </a:r>
            <a:endParaRPr b="0" lang="pt-BR" sz="3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0"/>
          <p:cNvSpPr/>
          <p:nvPr/>
        </p:nvSpPr>
        <p:spPr>
          <a:xfrm>
            <a:off x="457200" y="292680"/>
            <a:ext cx="54853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293" strike="noStrike">
                <a:solidFill>
                  <a:srgbClr val="ffffff"/>
                </a:solidFill>
                <a:latin typeface="Calibri"/>
                <a:ea typeface="Calibri"/>
              </a:rPr>
              <a:t>MOTIVATION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Text 1"/>
          <p:cNvSpPr/>
          <p:nvPr/>
        </p:nvSpPr>
        <p:spPr>
          <a:xfrm>
            <a:off x="457200" y="1005840"/>
            <a:ext cx="822852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000" spc="-1" strike="noStrike">
                <a:solidFill>
                  <a:srgbClr val="666666"/>
                </a:solidFill>
                <a:latin typeface="Calibri"/>
                <a:ea typeface="Calibri"/>
              </a:rPr>
              <a:t>Repetitive work</a:t>
            </a:r>
            <a:endParaRPr b="0" lang="pt-BR" sz="3000" spc="-1" strike="noStrike">
              <a:solidFill>
                <a:srgbClr val="666666"/>
              </a:solidFill>
              <a:latin typeface="Arial"/>
            </a:endParaRPr>
          </a:p>
        </p:txBody>
      </p:sp>
      <p:sp>
        <p:nvSpPr>
          <p:cNvPr id="27" name="Text 2"/>
          <p:cNvSpPr/>
          <p:nvPr/>
        </p:nvSpPr>
        <p:spPr>
          <a:xfrm>
            <a:off x="457200" y="1737360"/>
            <a:ext cx="822852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000" spc="-1" strike="noStrike">
                <a:solidFill>
                  <a:srgbClr val="666666"/>
                </a:solidFill>
                <a:latin typeface="Calibri"/>
                <a:ea typeface="Calibri"/>
              </a:rPr>
              <a:t>Plan execution</a:t>
            </a:r>
            <a:endParaRPr b="0" lang="pt-BR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Text 3"/>
          <p:cNvSpPr/>
          <p:nvPr/>
        </p:nvSpPr>
        <p:spPr>
          <a:xfrm>
            <a:off x="457200" y="2468880"/>
            <a:ext cx="822852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000" spc="-1" strike="noStrike">
                <a:solidFill>
                  <a:srgbClr val="666666"/>
                </a:solidFill>
                <a:latin typeface="Calibri"/>
                <a:ea typeface="Calibri"/>
              </a:rPr>
              <a:t>Local machine running</a:t>
            </a:r>
            <a:endParaRPr b="0" lang="pt-BR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Text 4"/>
          <p:cNvSpPr/>
          <p:nvPr/>
        </p:nvSpPr>
        <p:spPr>
          <a:xfrm>
            <a:off x="457200" y="3200400"/>
            <a:ext cx="822852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000" spc="-1" strike="noStrike">
                <a:solidFill>
                  <a:srgbClr val="666666"/>
                </a:solidFill>
                <a:latin typeface="Calibri"/>
                <a:ea typeface="Calibri"/>
              </a:rPr>
              <a:t>Developer barely waiting</a:t>
            </a:r>
            <a:endParaRPr b="0" lang="pt-BR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Text 5"/>
          <p:cNvSpPr/>
          <p:nvPr/>
        </p:nvSpPr>
        <p:spPr>
          <a:xfrm>
            <a:off x="457200" y="3931920"/>
            <a:ext cx="822852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  <a:ea typeface="Calibri"/>
              </a:rPr>
              <a:t>Delegation is a choice</a:t>
            </a:r>
            <a:endParaRPr b="0" lang="pt-BR" sz="3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0"/>
          <p:cNvSpPr/>
          <p:nvPr/>
        </p:nvSpPr>
        <p:spPr>
          <a:xfrm>
            <a:off x="457200" y="292680"/>
            <a:ext cx="54853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293" strike="noStrike">
                <a:solidFill>
                  <a:srgbClr val="ffffff"/>
                </a:solidFill>
                <a:latin typeface="Calibri"/>
                <a:ea typeface="Calibri"/>
              </a:rPr>
              <a:t>HOW IT WORKS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Text 1"/>
          <p:cNvSpPr/>
          <p:nvPr/>
        </p:nvSpPr>
        <p:spPr>
          <a:xfrm>
            <a:off x="457200" y="1627560"/>
            <a:ext cx="822852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ffffff"/>
                </a:solidFill>
                <a:latin typeface="Calibri"/>
                <a:ea typeface="Calibri"/>
              </a:rPr>
              <a:t>From ticket to Pull Request</a:t>
            </a:r>
            <a:endParaRPr b="0" lang="pt-BR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2"/>
          <p:cNvSpPr/>
          <p:nvPr/>
        </p:nvSpPr>
        <p:spPr>
          <a:xfrm>
            <a:off x="457200" y="3351240"/>
            <a:ext cx="1279080" cy="8676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Text 3"/>
          <p:cNvSpPr/>
          <p:nvPr/>
        </p:nvSpPr>
        <p:spPr>
          <a:xfrm>
            <a:off x="457200" y="3351240"/>
            <a:ext cx="127908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Jira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/>
          <p:nvPr/>
        </p:nvSpPr>
        <p:spPr>
          <a:xfrm>
            <a:off x="457200" y="292680"/>
            <a:ext cx="54853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293" strike="noStrike">
                <a:solidFill>
                  <a:srgbClr val="ffffff"/>
                </a:solidFill>
                <a:latin typeface="Calibri"/>
                <a:ea typeface="Calibri"/>
              </a:rPr>
              <a:t>HOW IT WORKS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Text 1"/>
          <p:cNvSpPr/>
          <p:nvPr/>
        </p:nvSpPr>
        <p:spPr>
          <a:xfrm>
            <a:off x="457200" y="1627560"/>
            <a:ext cx="822852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666666"/>
                </a:solidFill>
                <a:latin typeface="Calibri"/>
                <a:ea typeface="Calibri"/>
              </a:rPr>
              <a:t>From ticket to Pull Request</a:t>
            </a:r>
            <a:endParaRPr b="0" lang="pt-BR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2"/>
          <p:cNvSpPr/>
          <p:nvPr/>
        </p:nvSpPr>
        <p:spPr>
          <a:xfrm>
            <a:off x="457200" y="3351240"/>
            <a:ext cx="1279080" cy="867600"/>
          </a:xfrm>
          <a:prstGeom prst="rect">
            <a:avLst/>
          </a:prstGeom>
          <a:solidFill>
            <a:srgbClr val="808080">
              <a:alpha val="2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Text 3"/>
          <p:cNvSpPr/>
          <p:nvPr/>
        </p:nvSpPr>
        <p:spPr>
          <a:xfrm>
            <a:off x="457200" y="3351240"/>
            <a:ext cx="127908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66666"/>
                </a:solidFill>
                <a:latin typeface="Calibri"/>
                <a:ea typeface="Calibri"/>
              </a:rPr>
              <a:t>Jira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Text 4"/>
          <p:cNvSpPr/>
          <p:nvPr/>
        </p:nvSpPr>
        <p:spPr>
          <a:xfrm>
            <a:off x="1737360" y="3351240"/>
            <a:ext cx="45612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808080"/>
                </a:solidFill>
                <a:latin typeface="Calibri"/>
                <a:ea typeface="Calibri"/>
              </a:rPr>
              <a:t>→</a:t>
            </a:r>
            <a:endParaRPr b="0" lang="pt-B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Shape 5"/>
          <p:cNvSpPr/>
          <p:nvPr/>
        </p:nvSpPr>
        <p:spPr>
          <a:xfrm>
            <a:off x="2194560" y="3351240"/>
            <a:ext cx="1279080" cy="8676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Text 6"/>
          <p:cNvSpPr/>
          <p:nvPr/>
        </p:nvSpPr>
        <p:spPr>
          <a:xfrm>
            <a:off x="2194560" y="3351240"/>
            <a:ext cx="127908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GitHub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Actions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 0"/>
          <p:cNvSpPr/>
          <p:nvPr/>
        </p:nvSpPr>
        <p:spPr>
          <a:xfrm>
            <a:off x="457200" y="292680"/>
            <a:ext cx="54853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293" strike="noStrike">
                <a:solidFill>
                  <a:srgbClr val="ffffff"/>
                </a:solidFill>
                <a:latin typeface="Calibri"/>
                <a:ea typeface="Calibri"/>
              </a:rPr>
              <a:t>HOW IT WORKS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Text 1"/>
          <p:cNvSpPr/>
          <p:nvPr/>
        </p:nvSpPr>
        <p:spPr>
          <a:xfrm>
            <a:off x="457200" y="1627560"/>
            <a:ext cx="822852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666666"/>
                </a:solidFill>
                <a:latin typeface="Calibri"/>
                <a:ea typeface="Calibri"/>
              </a:rPr>
              <a:t>From ticket to Pull Request</a:t>
            </a:r>
            <a:endParaRPr b="0" lang="pt-BR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Shape 2"/>
          <p:cNvSpPr/>
          <p:nvPr/>
        </p:nvSpPr>
        <p:spPr>
          <a:xfrm>
            <a:off x="457200" y="3351240"/>
            <a:ext cx="1279080" cy="867600"/>
          </a:xfrm>
          <a:prstGeom prst="rect">
            <a:avLst/>
          </a:prstGeom>
          <a:solidFill>
            <a:srgbClr val="808080">
              <a:alpha val="2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Text 3"/>
          <p:cNvSpPr/>
          <p:nvPr/>
        </p:nvSpPr>
        <p:spPr>
          <a:xfrm>
            <a:off x="457200" y="3351240"/>
            <a:ext cx="127908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66666"/>
                </a:solidFill>
                <a:latin typeface="Calibri"/>
                <a:ea typeface="Calibri"/>
              </a:rPr>
              <a:t>Jira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Text 4"/>
          <p:cNvSpPr/>
          <p:nvPr/>
        </p:nvSpPr>
        <p:spPr>
          <a:xfrm>
            <a:off x="1737360" y="3351240"/>
            <a:ext cx="45612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666666"/>
                </a:solidFill>
                <a:latin typeface="Calibri"/>
                <a:ea typeface="Calibri"/>
              </a:rPr>
              <a:t>→</a:t>
            </a:r>
            <a:endParaRPr b="0" lang="pt-B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Shape 5"/>
          <p:cNvSpPr/>
          <p:nvPr/>
        </p:nvSpPr>
        <p:spPr>
          <a:xfrm>
            <a:off x="2194560" y="3351240"/>
            <a:ext cx="1279080" cy="867600"/>
          </a:xfrm>
          <a:prstGeom prst="rect">
            <a:avLst/>
          </a:prstGeom>
          <a:solidFill>
            <a:srgbClr val="808080">
              <a:alpha val="2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Text 6"/>
          <p:cNvSpPr/>
          <p:nvPr/>
        </p:nvSpPr>
        <p:spPr>
          <a:xfrm>
            <a:off x="2194560" y="3351240"/>
            <a:ext cx="127908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66666"/>
                </a:solidFill>
                <a:latin typeface="Calibri"/>
                <a:ea typeface="Calibri"/>
              </a:rPr>
              <a:t>GitHub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66666"/>
                </a:solidFill>
                <a:latin typeface="Calibri"/>
                <a:ea typeface="Calibri"/>
              </a:rPr>
              <a:t>Actions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7"/>
          <p:cNvSpPr/>
          <p:nvPr/>
        </p:nvSpPr>
        <p:spPr>
          <a:xfrm>
            <a:off x="3474720" y="3351240"/>
            <a:ext cx="45612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808080"/>
                </a:solidFill>
                <a:latin typeface="Calibri"/>
                <a:ea typeface="Calibri"/>
              </a:rPr>
              <a:t>→</a:t>
            </a:r>
            <a:endParaRPr b="0" lang="pt-B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Shape 8"/>
          <p:cNvSpPr/>
          <p:nvPr/>
        </p:nvSpPr>
        <p:spPr>
          <a:xfrm>
            <a:off x="3931920" y="3351240"/>
            <a:ext cx="1279080" cy="8676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 9"/>
          <p:cNvSpPr/>
          <p:nvPr/>
        </p:nvSpPr>
        <p:spPr>
          <a:xfrm>
            <a:off x="3931920" y="3351240"/>
            <a:ext cx="127908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Claude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 0"/>
          <p:cNvSpPr/>
          <p:nvPr/>
        </p:nvSpPr>
        <p:spPr>
          <a:xfrm>
            <a:off x="457200" y="292680"/>
            <a:ext cx="54853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293" strike="noStrike">
                <a:solidFill>
                  <a:srgbClr val="ffffff"/>
                </a:solidFill>
                <a:latin typeface="Calibri"/>
                <a:ea typeface="Calibri"/>
              </a:rPr>
              <a:t>HOW IT WORKS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1"/>
          <p:cNvSpPr/>
          <p:nvPr/>
        </p:nvSpPr>
        <p:spPr>
          <a:xfrm>
            <a:off x="457200" y="1627560"/>
            <a:ext cx="822852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666666"/>
                </a:solidFill>
                <a:latin typeface="Calibri"/>
                <a:ea typeface="Calibri"/>
              </a:rPr>
              <a:t>From ticket to Pull Request</a:t>
            </a:r>
            <a:endParaRPr b="0" lang="pt-BR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Shape 2"/>
          <p:cNvSpPr/>
          <p:nvPr/>
        </p:nvSpPr>
        <p:spPr>
          <a:xfrm>
            <a:off x="457200" y="3351240"/>
            <a:ext cx="1279080" cy="867600"/>
          </a:xfrm>
          <a:prstGeom prst="rect">
            <a:avLst/>
          </a:prstGeom>
          <a:solidFill>
            <a:srgbClr val="808080">
              <a:alpha val="2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Text 3"/>
          <p:cNvSpPr/>
          <p:nvPr/>
        </p:nvSpPr>
        <p:spPr>
          <a:xfrm>
            <a:off x="457200" y="3351240"/>
            <a:ext cx="127908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66666"/>
                </a:solidFill>
                <a:latin typeface="Calibri"/>
                <a:ea typeface="Calibri"/>
              </a:rPr>
              <a:t>Jira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Text 4"/>
          <p:cNvSpPr/>
          <p:nvPr/>
        </p:nvSpPr>
        <p:spPr>
          <a:xfrm>
            <a:off x="1737360" y="3351240"/>
            <a:ext cx="45612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666666"/>
                </a:solidFill>
                <a:latin typeface="Calibri"/>
                <a:ea typeface="Calibri"/>
              </a:rPr>
              <a:t>→</a:t>
            </a:r>
            <a:endParaRPr b="0" lang="pt-B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Shape 5"/>
          <p:cNvSpPr/>
          <p:nvPr/>
        </p:nvSpPr>
        <p:spPr>
          <a:xfrm>
            <a:off x="2194560" y="3351240"/>
            <a:ext cx="1279080" cy="867600"/>
          </a:xfrm>
          <a:prstGeom prst="rect">
            <a:avLst/>
          </a:prstGeom>
          <a:solidFill>
            <a:srgbClr val="808080">
              <a:alpha val="2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 6"/>
          <p:cNvSpPr/>
          <p:nvPr/>
        </p:nvSpPr>
        <p:spPr>
          <a:xfrm>
            <a:off x="2194560" y="3351240"/>
            <a:ext cx="127908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66666"/>
                </a:solidFill>
                <a:latin typeface="Calibri"/>
                <a:ea typeface="Calibri"/>
              </a:rPr>
              <a:t>GitHub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66666"/>
                </a:solidFill>
                <a:latin typeface="Calibri"/>
                <a:ea typeface="Calibri"/>
              </a:rPr>
              <a:t>Actions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Text 7"/>
          <p:cNvSpPr/>
          <p:nvPr/>
        </p:nvSpPr>
        <p:spPr>
          <a:xfrm>
            <a:off x="3474720" y="3351240"/>
            <a:ext cx="45612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666666"/>
                </a:solidFill>
                <a:latin typeface="Calibri"/>
                <a:ea typeface="Calibri"/>
              </a:rPr>
              <a:t>→</a:t>
            </a:r>
            <a:endParaRPr b="0" lang="pt-B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Shape 8"/>
          <p:cNvSpPr/>
          <p:nvPr/>
        </p:nvSpPr>
        <p:spPr>
          <a:xfrm>
            <a:off x="3931920" y="3351240"/>
            <a:ext cx="1279080" cy="867600"/>
          </a:xfrm>
          <a:prstGeom prst="rect">
            <a:avLst/>
          </a:prstGeom>
          <a:solidFill>
            <a:srgbClr val="808080">
              <a:alpha val="2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Text 9"/>
          <p:cNvSpPr/>
          <p:nvPr/>
        </p:nvSpPr>
        <p:spPr>
          <a:xfrm>
            <a:off x="3931920" y="3351240"/>
            <a:ext cx="127908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66666"/>
                </a:solidFill>
                <a:latin typeface="Calibri"/>
                <a:ea typeface="Calibri"/>
              </a:rPr>
              <a:t>Claude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Text 10"/>
          <p:cNvSpPr/>
          <p:nvPr/>
        </p:nvSpPr>
        <p:spPr>
          <a:xfrm>
            <a:off x="5212080" y="3351240"/>
            <a:ext cx="45612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808080"/>
                </a:solidFill>
                <a:latin typeface="Calibri"/>
                <a:ea typeface="Calibri"/>
              </a:rPr>
              <a:t>→</a:t>
            </a:r>
            <a:endParaRPr b="0" lang="pt-B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Shape 11"/>
          <p:cNvSpPr/>
          <p:nvPr/>
        </p:nvSpPr>
        <p:spPr>
          <a:xfrm>
            <a:off x="5669280" y="3351240"/>
            <a:ext cx="1279080" cy="8676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Text 12"/>
          <p:cNvSpPr/>
          <p:nvPr/>
        </p:nvSpPr>
        <p:spPr>
          <a:xfrm>
            <a:off x="5669280" y="3351240"/>
            <a:ext cx="127908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Pull Request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 0"/>
          <p:cNvSpPr/>
          <p:nvPr/>
        </p:nvSpPr>
        <p:spPr>
          <a:xfrm>
            <a:off x="457200" y="292680"/>
            <a:ext cx="54853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293" strike="noStrike">
                <a:solidFill>
                  <a:srgbClr val="ffffff"/>
                </a:solidFill>
                <a:latin typeface="Calibri"/>
                <a:ea typeface="Calibri"/>
              </a:rPr>
              <a:t>HOW IT WORKS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 1"/>
          <p:cNvSpPr/>
          <p:nvPr/>
        </p:nvSpPr>
        <p:spPr>
          <a:xfrm>
            <a:off x="457200" y="1627560"/>
            <a:ext cx="822852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666666"/>
                </a:solidFill>
                <a:latin typeface="Calibri"/>
                <a:ea typeface="Calibri"/>
              </a:rPr>
              <a:t>From ticket to Pull Request</a:t>
            </a:r>
            <a:endParaRPr b="0" lang="pt-BR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Shape 2"/>
          <p:cNvSpPr/>
          <p:nvPr/>
        </p:nvSpPr>
        <p:spPr>
          <a:xfrm>
            <a:off x="457200" y="3351240"/>
            <a:ext cx="1279080" cy="867600"/>
          </a:xfrm>
          <a:prstGeom prst="rect">
            <a:avLst/>
          </a:prstGeom>
          <a:solidFill>
            <a:srgbClr val="808080">
              <a:alpha val="2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Text 3"/>
          <p:cNvSpPr/>
          <p:nvPr/>
        </p:nvSpPr>
        <p:spPr>
          <a:xfrm>
            <a:off x="457200" y="3351240"/>
            <a:ext cx="127908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66666"/>
                </a:solidFill>
                <a:latin typeface="Calibri"/>
                <a:ea typeface="Calibri"/>
              </a:rPr>
              <a:t>Jira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Text 4"/>
          <p:cNvSpPr/>
          <p:nvPr/>
        </p:nvSpPr>
        <p:spPr>
          <a:xfrm>
            <a:off x="1737360" y="3351240"/>
            <a:ext cx="45612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666666"/>
                </a:solidFill>
                <a:latin typeface="Calibri"/>
                <a:ea typeface="Calibri"/>
              </a:rPr>
              <a:t>→</a:t>
            </a:r>
            <a:endParaRPr b="0" lang="pt-B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Shape 5"/>
          <p:cNvSpPr/>
          <p:nvPr/>
        </p:nvSpPr>
        <p:spPr>
          <a:xfrm>
            <a:off x="2194560" y="3351240"/>
            <a:ext cx="1279080" cy="867600"/>
          </a:xfrm>
          <a:prstGeom prst="rect">
            <a:avLst/>
          </a:prstGeom>
          <a:solidFill>
            <a:srgbClr val="808080">
              <a:alpha val="2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Text 6"/>
          <p:cNvSpPr/>
          <p:nvPr/>
        </p:nvSpPr>
        <p:spPr>
          <a:xfrm>
            <a:off x="2194560" y="3351240"/>
            <a:ext cx="127908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66666"/>
                </a:solidFill>
                <a:latin typeface="Calibri"/>
                <a:ea typeface="Calibri"/>
              </a:rPr>
              <a:t>GitHub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66666"/>
                </a:solidFill>
                <a:latin typeface="Calibri"/>
                <a:ea typeface="Calibri"/>
              </a:rPr>
              <a:t>Actions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Text 7"/>
          <p:cNvSpPr/>
          <p:nvPr/>
        </p:nvSpPr>
        <p:spPr>
          <a:xfrm>
            <a:off x="3474720" y="3351240"/>
            <a:ext cx="45612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666666"/>
                </a:solidFill>
                <a:latin typeface="Calibri"/>
                <a:ea typeface="Calibri"/>
              </a:rPr>
              <a:t>→</a:t>
            </a:r>
            <a:endParaRPr b="0" lang="pt-B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Shape 8"/>
          <p:cNvSpPr/>
          <p:nvPr/>
        </p:nvSpPr>
        <p:spPr>
          <a:xfrm>
            <a:off x="3931920" y="3351240"/>
            <a:ext cx="1279080" cy="867600"/>
          </a:xfrm>
          <a:prstGeom prst="rect">
            <a:avLst/>
          </a:prstGeom>
          <a:solidFill>
            <a:srgbClr val="808080">
              <a:alpha val="2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Text 9"/>
          <p:cNvSpPr/>
          <p:nvPr/>
        </p:nvSpPr>
        <p:spPr>
          <a:xfrm>
            <a:off x="3931920" y="3351240"/>
            <a:ext cx="127908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66666"/>
                </a:solidFill>
                <a:latin typeface="Calibri"/>
                <a:ea typeface="Calibri"/>
              </a:rPr>
              <a:t>Claude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 10"/>
          <p:cNvSpPr/>
          <p:nvPr/>
        </p:nvSpPr>
        <p:spPr>
          <a:xfrm>
            <a:off x="5212080" y="3351240"/>
            <a:ext cx="45612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666666"/>
                </a:solidFill>
                <a:latin typeface="Calibri"/>
                <a:ea typeface="Calibri"/>
              </a:rPr>
              <a:t>→</a:t>
            </a:r>
            <a:endParaRPr b="0" lang="pt-B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Shape 11"/>
          <p:cNvSpPr/>
          <p:nvPr/>
        </p:nvSpPr>
        <p:spPr>
          <a:xfrm>
            <a:off x="5669280" y="3351240"/>
            <a:ext cx="1279080" cy="867600"/>
          </a:xfrm>
          <a:prstGeom prst="rect">
            <a:avLst/>
          </a:prstGeom>
          <a:solidFill>
            <a:srgbClr val="808080">
              <a:alpha val="2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Text 12"/>
          <p:cNvSpPr/>
          <p:nvPr/>
        </p:nvSpPr>
        <p:spPr>
          <a:xfrm>
            <a:off x="5669280" y="3351240"/>
            <a:ext cx="127908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66666"/>
                </a:solidFill>
                <a:latin typeface="Calibri"/>
                <a:ea typeface="Calibri"/>
              </a:rPr>
              <a:t>Pull Request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Text 13"/>
          <p:cNvSpPr/>
          <p:nvPr/>
        </p:nvSpPr>
        <p:spPr>
          <a:xfrm>
            <a:off x="6949440" y="3351240"/>
            <a:ext cx="45612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808080"/>
                </a:solidFill>
                <a:latin typeface="Calibri"/>
                <a:ea typeface="Calibri"/>
              </a:rPr>
              <a:t>→</a:t>
            </a:r>
            <a:endParaRPr b="0" lang="pt-B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Shape 14"/>
          <p:cNvSpPr/>
          <p:nvPr/>
        </p:nvSpPr>
        <p:spPr>
          <a:xfrm>
            <a:off x="7406640" y="3351240"/>
            <a:ext cx="1279080" cy="8676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Text 15"/>
          <p:cNvSpPr/>
          <p:nvPr/>
        </p:nvSpPr>
        <p:spPr>
          <a:xfrm>
            <a:off x="7406640" y="3351240"/>
            <a:ext cx="127908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Jira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(In Review)</a:t>
            </a:r>
            <a:endParaRPr b="0" lang="pt-BR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 0"/>
          <p:cNvSpPr/>
          <p:nvPr/>
        </p:nvSpPr>
        <p:spPr>
          <a:xfrm>
            <a:off x="457200" y="292680"/>
            <a:ext cx="54853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293" strike="noStrike">
                <a:solidFill>
                  <a:srgbClr val="ffffff"/>
                </a:solidFill>
                <a:latin typeface="Calibri"/>
                <a:ea typeface="Calibri"/>
              </a:rPr>
              <a:t>HOW IT WORKS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Text 1"/>
          <p:cNvSpPr/>
          <p:nvPr/>
        </p:nvSpPr>
        <p:spPr>
          <a:xfrm>
            <a:off x="457200" y="1627560"/>
            <a:ext cx="822852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ffffff"/>
                </a:solidFill>
                <a:latin typeface="Calibri"/>
                <a:ea typeface="Calibri"/>
              </a:rPr>
              <a:t>A single click</a:t>
            </a:r>
            <a:endParaRPr b="0" lang="pt-BR" sz="3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 0"/>
          <p:cNvSpPr/>
          <p:nvPr/>
        </p:nvSpPr>
        <p:spPr>
          <a:xfrm>
            <a:off x="457200" y="292680"/>
            <a:ext cx="54853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293" strike="noStrike">
                <a:solidFill>
                  <a:srgbClr val="ffffff"/>
                </a:solidFill>
                <a:latin typeface="Calibri"/>
                <a:ea typeface="Calibri"/>
              </a:rPr>
              <a:t>HOW IT WORKS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 1"/>
          <p:cNvSpPr/>
          <p:nvPr/>
        </p:nvSpPr>
        <p:spPr>
          <a:xfrm>
            <a:off x="457200" y="1005840"/>
            <a:ext cx="822852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1.  Reads the issue</a:t>
            </a:r>
            <a:endParaRPr b="0" lang="pt-BR" sz="2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 0"/>
          <p:cNvSpPr/>
          <p:nvPr/>
        </p:nvSpPr>
        <p:spPr>
          <a:xfrm>
            <a:off x="457200" y="292680"/>
            <a:ext cx="54853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293" strike="noStrike">
                <a:solidFill>
                  <a:srgbClr val="ffffff"/>
                </a:solidFill>
                <a:latin typeface="Calibri"/>
                <a:ea typeface="Calibri"/>
              </a:rPr>
              <a:t>HOW IT WORKS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Text 1"/>
          <p:cNvSpPr/>
          <p:nvPr/>
        </p:nvSpPr>
        <p:spPr>
          <a:xfrm>
            <a:off x="457200" y="1005840"/>
            <a:ext cx="822852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pc="-1" strike="noStrike">
                <a:solidFill>
                  <a:srgbClr val="666666"/>
                </a:solidFill>
                <a:latin typeface="Calibri"/>
                <a:ea typeface="Calibri"/>
              </a:rPr>
              <a:t>1.  Reads the issue</a:t>
            </a:r>
            <a:endParaRPr b="0" lang="pt-BR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Text 2"/>
          <p:cNvSpPr/>
          <p:nvPr/>
        </p:nvSpPr>
        <p:spPr>
          <a:xfrm>
            <a:off x="457200" y="1664280"/>
            <a:ext cx="822852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2.  Implements the code</a:t>
            </a:r>
            <a:endParaRPr b="0" lang="pt-BR" sz="2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 0"/>
          <p:cNvSpPr/>
          <p:nvPr/>
        </p:nvSpPr>
        <p:spPr>
          <a:xfrm>
            <a:off x="457200" y="292680"/>
            <a:ext cx="54853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293" strike="noStrike">
                <a:solidFill>
                  <a:srgbClr val="ffffff"/>
                </a:solidFill>
                <a:latin typeface="Calibri"/>
                <a:ea typeface="Calibri"/>
              </a:rPr>
              <a:t>HOW IT WORKS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Text 1"/>
          <p:cNvSpPr/>
          <p:nvPr/>
        </p:nvSpPr>
        <p:spPr>
          <a:xfrm>
            <a:off x="457200" y="1005840"/>
            <a:ext cx="822852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pc="-1" strike="noStrike">
                <a:solidFill>
                  <a:srgbClr val="666666"/>
                </a:solidFill>
                <a:latin typeface="Calibri"/>
                <a:ea typeface="Calibri"/>
              </a:rPr>
              <a:t>1.  Reads the issue</a:t>
            </a:r>
            <a:endParaRPr b="0" lang="pt-BR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Text 2"/>
          <p:cNvSpPr/>
          <p:nvPr/>
        </p:nvSpPr>
        <p:spPr>
          <a:xfrm>
            <a:off x="457200" y="1664280"/>
            <a:ext cx="822852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pc="-1" strike="noStrike">
                <a:solidFill>
                  <a:srgbClr val="666666"/>
                </a:solidFill>
                <a:latin typeface="Calibri"/>
                <a:ea typeface="Calibri"/>
              </a:rPr>
              <a:t>2.  Implements the code</a:t>
            </a:r>
            <a:endParaRPr b="0" lang="pt-BR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Text 3"/>
          <p:cNvSpPr/>
          <p:nvPr/>
        </p:nvSpPr>
        <p:spPr>
          <a:xfrm>
            <a:off x="457200" y="2322720"/>
            <a:ext cx="822852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3.  Opens the Pull Request</a:t>
            </a:r>
            <a:endParaRPr b="0" lang="pt-BR" sz="2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 0"/>
          <p:cNvSpPr/>
          <p:nvPr/>
        </p:nvSpPr>
        <p:spPr>
          <a:xfrm>
            <a:off x="457200" y="292680"/>
            <a:ext cx="54853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293" strike="noStrike">
                <a:solidFill>
                  <a:srgbClr val="ffffff"/>
                </a:solidFill>
                <a:latin typeface="Calibri"/>
                <a:ea typeface="Calibri"/>
              </a:rPr>
              <a:t>HOW IT WORKS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 1"/>
          <p:cNvSpPr/>
          <p:nvPr/>
        </p:nvSpPr>
        <p:spPr>
          <a:xfrm>
            <a:off x="457200" y="1005840"/>
            <a:ext cx="822852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pc="-1" strike="noStrike">
                <a:solidFill>
                  <a:srgbClr val="666666"/>
                </a:solidFill>
                <a:latin typeface="Calibri"/>
                <a:ea typeface="Calibri"/>
              </a:rPr>
              <a:t>1.  Reads the issue</a:t>
            </a:r>
            <a:endParaRPr b="0" lang="pt-BR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 2"/>
          <p:cNvSpPr/>
          <p:nvPr/>
        </p:nvSpPr>
        <p:spPr>
          <a:xfrm>
            <a:off x="457200" y="1664280"/>
            <a:ext cx="822852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pc="-1" strike="noStrike">
                <a:solidFill>
                  <a:srgbClr val="666666"/>
                </a:solidFill>
                <a:latin typeface="Calibri"/>
                <a:ea typeface="Calibri"/>
              </a:rPr>
              <a:t>2.  Implements the code</a:t>
            </a:r>
            <a:endParaRPr b="0" lang="pt-BR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Text 3"/>
          <p:cNvSpPr/>
          <p:nvPr/>
        </p:nvSpPr>
        <p:spPr>
          <a:xfrm>
            <a:off x="457200" y="2322720"/>
            <a:ext cx="822852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pc="-1" strike="noStrike">
                <a:solidFill>
                  <a:srgbClr val="666666"/>
                </a:solidFill>
                <a:latin typeface="Calibri"/>
                <a:ea typeface="Calibri"/>
              </a:rPr>
              <a:t>3.  Opens the Pull Request</a:t>
            </a:r>
            <a:endParaRPr b="0" lang="pt-BR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 4"/>
          <p:cNvSpPr/>
          <p:nvPr/>
        </p:nvSpPr>
        <p:spPr>
          <a:xfrm>
            <a:off x="457200" y="2980800"/>
            <a:ext cx="822852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4.  Comments on Jira</a:t>
            </a:r>
            <a:endParaRPr b="0" lang="pt-BR" sz="2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 0"/>
          <p:cNvSpPr/>
          <p:nvPr/>
        </p:nvSpPr>
        <p:spPr>
          <a:xfrm>
            <a:off x="457200" y="292680"/>
            <a:ext cx="54853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293" strike="noStrike">
                <a:solidFill>
                  <a:srgbClr val="ffffff"/>
                </a:solidFill>
                <a:latin typeface="Calibri"/>
                <a:ea typeface="Calibri"/>
              </a:rPr>
              <a:t>HOW IT WORKS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Text 1"/>
          <p:cNvSpPr/>
          <p:nvPr/>
        </p:nvSpPr>
        <p:spPr>
          <a:xfrm>
            <a:off x="457200" y="1005840"/>
            <a:ext cx="822852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pc="-1" strike="noStrike">
                <a:solidFill>
                  <a:srgbClr val="666666"/>
                </a:solidFill>
                <a:latin typeface="Calibri"/>
                <a:ea typeface="Calibri"/>
              </a:rPr>
              <a:t>1.  Reads the issue</a:t>
            </a:r>
            <a:endParaRPr b="0" lang="pt-BR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 2"/>
          <p:cNvSpPr/>
          <p:nvPr/>
        </p:nvSpPr>
        <p:spPr>
          <a:xfrm>
            <a:off x="457200" y="1664280"/>
            <a:ext cx="822852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pc="-1" strike="noStrike">
                <a:solidFill>
                  <a:srgbClr val="666666"/>
                </a:solidFill>
                <a:latin typeface="Calibri"/>
                <a:ea typeface="Calibri"/>
              </a:rPr>
              <a:t>2.  Implements the code</a:t>
            </a:r>
            <a:endParaRPr b="0" lang="pt-BR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Text 3"/>
          <p:cNvSpPr/>
          <p:nvPr/>
        </p:nvSpPr>
        <p:spPr>
          <a:xfrm>
            <a:off x="457200" y="2322720"/>
            <a:ext cx="822852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pc="-1" strike="noStrike">
                <a:solidFill>
                  <a:srgbClr val="666666"/>
                </a:solidFill>
                <a:latin typeface="Calibri"/>
                <a:ea typeface="Calibri"/>
              </a:rPr>
              <a:t>3.  Opens the Pull Request</a:t>
            </a:r>
            <a:endParaRPr b="0" lang="pt-BR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Text 4"/>
          <p:cNvSpPr/>
          <p:nvPr/>
        </p:nvSpPr>
        <p:spPr>
          <a:xfrm>
            <a:off x="457200" y="2980800"/>
            <a:ext cx="822852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pc="-1" strike="noStrike">
                <a:solidFill>
                  <a:srgbClr val="666666"/>
                </a:solidFill>
                <a:latin typeface="Calibri"/>
                <a:ea typeface="Calibri"/>
              </a:rPr>
              <a:t>4.  Comments on Jira</a:t>
            </a:r>
            <a:endParaRPr b="0" lang="pt-BR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Text 5"/>
          <p:cNvSpPr/>
          <p:nvPr/>
        </p:nvSpPr>
        <p:spPr>
          <a:xfrm>
            <a:off x="457200" y="3639240"/>
            <a:ext cx="822852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5.  Transition to "In Review"</a:t>
            </a:r>
            <a:endParaRPr b="0" lang="pt-BR" sz="2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 0"/>
          <p:cNvSpPr/>
          <p:nvPr/>
        </p:nvSpPr>
        <p:spPr>
          <a:xfrm>
            <a:off x="457200" y="292680"/>
            <a:ext cx="54853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293" strike="noStrike">
                <a:solidFill>
                  <a:srgbClr val="ffffff"/>
                </a:solidFill>
                <a:latin typeface="Calibri"/>
                <a:ea typeface="Calibri"/>
              </a:rPr>
              <a:t>RESILIENCE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Text 1"/>
          <p:cNvSpPr/>
          <p:nvPr/>
        </p:nvSpPr>
        <p:spPr>
          <a:xfrm>
            <a:off x="457200" y="1627560"/>
            <a:ext cx="822852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ffffff"/>
                </a:solidFill>
                <a:latin typeface="Calibri"/>
                <a:ea typeface="Calibri"/>
              </a:rPr>
              <a:t>Up to 3 attempts</a:t>
            </a:r>
            <a:endParaRPr b="0" lang="pt-BR" sz="3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ext 0"/>
          <p:cNvSpPr/>
          <p:nvPr/>
        </p:nvSpPr>
        <p:spPr>
          <a:xfrm>
            <a:off x="457200" y="292680"/>
            <a:ext cx="54853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293" strike="noStrike">
                <a:solidFill>
                  <a:srgbClr val="ffffff"/>
                </a:solidFill>
                <a:latin typeface="Calibri"/>
                <a:ea typeface="Calibri"/>
              </a:rPr>
              <a:t>RESILIENCE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 1"/>
          <p:cNvSpPr/>
          <p:nvPr/>
        </p:nvSpPr>
        <p:spPr>
          <a:xfrm>
            <a:off x="457200" y="1627560"/>
            <a:ext cx="822852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666666"/>
                </a:solidFill>
                <a:latin typeface="Calibri"/>
                <a:ea typeface="Calibri"/>
              </a:rPr>
              <a:t>Up to 3 attempts</a:t>
            </a:r>
            <a:endParaRPr b="0" lang="pt-BR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Text 2"/>
          <p:cNvSpPr/>
          <p:nvPr/>
        </p:nvSpPr>
        <p:spPr>
          <a:xfrm>
            <a:off x="457200" y="2907720"/>
            <a:ext cx="82285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onsolas"/>
                <a:ea typeface="Consolas"/>
              </a:rPr>
              <a:t>/fix --max-attempts=3</a:t>
            </a:r>
            <a:endParaRPr b="0" lang="pt-BR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 0"/>
          <p:cNvSpPr/>
          <p:nvPr/>
        </p:nvSpPr>
        <p:spPr>
          <a:xfrm>
            <a:off x="457200" y="292680"/>
            <a:ext cx="54853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293" strike="noStrike">
                <a:solidFill>
                  <a:srgbClr val="ffffff"/>
                </a:solidFill>
                <a:latin typeface="Calibri"/>
                <a:ea typeface="Calibri"/>
              </a:rPr>
              <a:t>SECURITY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Text 1"/>
          <p:cNvSpPr/>
          <p:nvPr/>
        </p:nvSpPr>
        <p:spPr>
          <a:xfrm>
            <a:off x="457200" y="1627560"/>
            <a:ext cx="822852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ffffff"/>
                </a:solidFill>
                <a:latin typeface="Calibri"/>
                <a:ea typeface="Calibri"/>
              </a:rPr>
              <a:t>Logs only on failure</a:t>
            </a:r>
            <a:endParaRPr b="0" lang="pt-BR" sz="3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Text 0"/>
          <p:cNvSpPr/>
          <p:nvPr/>
        </p:nvSpPr>
        <p:spPr>
          <a:xfrm>
            <a:off x="457200" y="292680"/>
            <a:ext cx="54853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293" strike="noStrike">
                <a:solidFill>
                  <a:srgbClr val="ffffff"/>
                </a:solidFill>
                <a:latin typeface="Calibri"/>
                <a:ea typeface="Calibri"/>
              </a:rPr>
              <a:t>CONFIGURATION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Text 1"/>
          <p:cNvSpPr/>
          <p:nvPr/>
        </p:nvSpPr>
        <p:spPr>
          <a:xfrm>
            <a:off x="457200" y="1005840"/>
            <a:ext cx="822852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Claude App on GitHub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 0"/>
          <p:cNvSpPr/>
          <p:nvPr/>
        </p:nvSpPr>
        <p:spPr>
          <a:xfrm>
            <a:off x="457200" y="292680"/>
            <a:ext cx="54853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293" strike="noStrike">
                <a:solidFill>
                  <a:srgbClr val="ffffff"/>
                </a:solidFill>
                <a:latin typeface="Calibri"/>
                <a:ea typeface="Calibri"/>
              </a:rPr>
              <a:t>CONFIGURATION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Text 1"/>
          <p:cNvSpPr/>
          <p:nvPr/>
        </p:nvSpPr>
        <p:spPr>
          <a:xfrm>
            <a:off x="457200" y="1005840"/>
            <a:ext cx="822852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666666"/>
                </a:solidFill>
                <a:latin typeface="Calibri"/>
                <a:ea typeface="Calibri"/>
              </a:rPr>
              <a:t>Claude App on GitHub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 2"/>
          <p:cNvSpPr/>
          <p:nvPr/>
        </p:nvSpPr>
        <p:spPr>
          <a:xfrm>
            <a:off x="457200" y="1528200"/>
            <a:ext cx="822852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OAuth token (claude setup-token)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ext 0"/>
          <p:cNvSpPr/>
          <p:nvPr/>
        </p:nvSpPr>
        <p:spPr>
          <a:xfrm>
            <a:off x="457200" y="292680"/>
            <a:ext cx="54853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293" strike="noStrike">
                <a:solidFill>
                  <a:srgbClr val="ffffff"/>
                </a:solidFill>
                <a:latin typeface="Calibri"/>
                <a:ea typeface="Calibri"/>
              </a:rPr>
              <a:t>CONFIGURATION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Text 1"/>
          <p:cNvSpPr/>
          <p:nvPr/>
        </p:nvSpPr>
        <p:spPr>
          <a:xfrm>
            <a:off x="457200" y="1005840"/>
            <a:ext cx="822852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666666"/>
                </a:solidFill>
                <a:latin typeface="Calibri"/>
                <a:ea typeface="Calibri"/>
              </a:rPr>
              <a:t>Claude App on GitHub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Text 2"/>
          <p:cNvSpPr/>
          <p:nvPr/>
        </p:nvSpPr>
        <p:spPr>
          <a:xfrm>
            <a:off x="457200" y="1528200"/>
            <a:ext cx="822852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666666"/>
                </a:solidFill>
                <a:latin typeface="Calibri"/>
                <a:ea typeface="Calibri"/>
              </a:rPr>
              <a:t>OAuth token (claude setup-token)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 3"/>
          <p:cNvSpPr/>
          <p:nvPr/>
        </p:nvSpPr>
        <p:spPr>
          <a:xfrm>
            <a:off x="457200" y="2050920"/>
            <a:ext cx="822852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Jira API token + URL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ext 0"/>
          <p:cNvSpPr/>
          <p:nvPr/>
        </p:nvSpPr>
        <p:spPr>
          <a:xfrm>
            <a:off x="457200" y="292680"/>
            <a:ext cx="54853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293" strike="noStrike">
                <a:solidFill>
                  <a:srgbClr val="ffffff"/>
                </a:solidFill>
                <a:latin typeface="Calibri"/>
                <a:ea typeface="Calibri"/>
              </a:rPr>
              <a:t>CONFIGURATION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Text 1"/>
          <p:cNvSpPr/>
          <p:nvPr/>
        </p:nvSpPr>
        <p:spPr>
          <a:xfrm>
            <a:off x="457200" y="1005840"/>
            <a:ext cx="822852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666666"/>
                </a:solidFill>
                <a:latin typeface="Calibri"/>
                <a:ea typeface="Calibri"/>
              </a:rPr>
              <a:t>Claude App on GitHub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Text 2"/>
          <p:cNvSpPr/>
          <p:nvPr/>
        </p:nvSpPr>
        <p:spPr>
          <a:xfrm>
            <a:off x="457200" y="1528200"/>
            <a:ext cx="822852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666666"/>
                </a:solidFill>
                <a:latin typeface="Calibri"/>
                <a:ea typeface="Calibri"/>
              </a:rPr>
              <a:t>OAuth token (claude setup-token)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Text 3"/>
          <p:cNvSpPr/>
          <p:nvPr/>
        </p:nvSpPr>
        <p:spPr>
          <a:xfrm>
            <a:off x="457200" y="2050920"/>
            <a:ext cx="822852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666666"/>
                </a:solidFill>
                <a:latin typeface="Calibri"/>
                <a:ea typeface="Calibri"/>
              </a:rPr>
              <a:t>Jira API token + URL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Text 4"/>
          <p:cNvSpPr/>
          <p:nvPr/>
        </p:nvSpPr>
        <p:spPr>
          <a:xfrm>
            <a:off x="457200" y="2573280"/>
            <a:ext cx="822852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Fine-grained PAT (trigger)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 0"/>
          <p:cNvSpPr/>
          <p:nvPr/>
        </p:nvSpPr>
        <p:spPr>
          <a:xfrm>
            <a:off x="457200" y="292680"/>
            <a:ext cx="54853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293" strike="noStrike">
                <a:solidFill>
                  <a:srgbClr val="ffffff"/>
                </a:solidFill>
                <a:latin typeface="Calibri"/>
                <a:ea typeface="Calibri"/>
              </a:rPr>
              <a:t>CONFIGURATION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 1"/>
          <p:cNvSpPr/>
          <p:nvPr/>
        </p:nvSpPr>
        <p:spPr>
          <a:xfrm>
            <a:off x="457200" y="1005840"/>
            <a:ext cx="822852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666666"/>
                </a:solidFill>
                <a:latin typeface="Calibri"/>
                <a:ea typeface="Calibri"/>
              </a:rPr>
              <a:t>Claude App on GitHub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Text 2"/>
          <p:cNvSpPr/>
          <p:nvPr/>
        </p:nvSpPr>
        <p:spPr>
          <a:xfrm>
            <a:off x="457200" y="1528200"/>
            <a:ext cx="822852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666666"/>
                </a:solidFill>
                <a:latin typeface="Calibri"/>
                <a:ea typeface="Calibri"/>
              </a:rPr>
              <a:t>OAuth token (claude setup-token)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Text 3"/>
          <p:cNvSpPr/>
          <p:nvPr/>
        </p:nvSpPr>
        <p:spPr>
          <a:xfrm>
            <a:off x="457200" y="2050920"/>
            <a:ext cx="822852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666666"/>
                </a:solidFill>
                <a:latin typeface="Calibri"/>
                <a:ea typeface="Calibri"/>
              </a:rPr>
              <a:t>Jira API token + URL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Text 4"/>
          <p:cNvSpPr/>
          <p:nvPr/>
        </p:nvSpPr>
        <p:spPr>
          <a:xfrm>
            <a:off x="457200" y="2573280"/>
            <a:ext cx="822852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666666"/>
                </a:solidFill>
                <a:latin typeface="Calibri"/>
                <a:ea typeface="Calibri"/>
              </a:rPr>
              <a:t>Fine-grained PAT (trigger)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Text 5"/>
          <p:cNvSpPr/>
          <p:nvPr/>
        </p:nvSpPr>
        <p:spPr>
          <a:xfrm>
            <a:off x="457200" y="3096000"/>
            <a:ext cx="822852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Workflow permissions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 0"/>
          <p:cNvSpPr/>
          <p:nvPr/>
        </p:nvSpPr>
        <p:spPr>
          <a:xfrm>
            <a:off x="457200" y="292680"/>
            <a:ext cx="54853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293" strike="noStrike">
                <a:solidFill>
                  <a:srgbClr val="ffffff"/>
                </a:solidFill>
                <a:latin typeface="Calibri"/>
                <a:ea typeface="Calibri"/>
              </a:rPr>
              <a:t>CONFIGURATION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Text 1"/>
          <p:cNvSpPr/>
          <p:nvPr/>
        </p:nvSpPr>
        <p:spPr>
          <a:xfrm>
            <a:off x="457200" y="1005840"/>
            <a:ext cx="822852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666666"/>
                </a:solidFill>
                <a:latin typeface="Calibri"/>
                <a:ea typeface="Calibri"/>
              </a:rPr>
              <a:t>Claude App on GitHub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Text 2"/>
          <p:cNvSpPr/>
          <p:nvPr/>
        </p:nvSpPr>
        <p:spPr>
          <a:xfrm>
            <a:off x="457200" y="1528200"/>
            <a:ext cx="822852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666666"/>
                </a:solidFill>
                <a:latin typeface="Calibri"/>
                <a:ea typeface="Calibri"/>
              </a:rPr>
              <a:t>OAuth token (claude setup-token)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 3"/>
          <p:cNvSpPr/>
          <p:nvPr/>
        </p:nvSpPr>
        <p:spPr>
          <a:xfrm>
            <a:off x="457200" y="2050920"/>
            <a:ext cx="822852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666666"/>
                </a:solidFill>
                <a:latin typeface="Calibri"/>
                <a:ea typeface="Calibri"/>
              </a:rPr>
              <a:t>Jira API token + URL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 4"/>
          <p:cNvSpPr/>
          <p:nvPr/>
        </p:nvSpPr>
        <p:spPr>
          <a:xfrm>
            <a:off x="457200" y="2573280"/>
            <a:ext cx="822852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666666"/>
                </a:solidFill>
                <a:latin typeface="Calibri"/>
                <a:ea typeface="Calibri"/>
              </a:rPr>
              <a:t>Fine-grained PAT (trigger)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 5"/>
          <p:cNvSpPr/>
          <p:nvPr/>
        </p:nvSpPr>
        <p:spPr>
          <a:xfrm>
            <a:off x="457200" y="3096000"/>
            <a:ext cx="822852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666666"/>
                </a:solidFill>
                <a:latin typeface="Calibri"/>
                <a:ea typeface="Calibri"/>
              </a:rPr>
              <a:t>Workflow permissions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 6"/>
          <p:cNvSpPr/>
          <p:nvPr/>
        </p:nvSpPr>
        <p:spPr>
          <a:xfrm>
            <a:off x="457200" y="3618360"/>
            <a:ext cx="822852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Automation Rule in Jira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Text 0"/>
          <p:cNvSpPr/>
          <p:nvPr/>
        </p:nvSpPr>
        <p:spPr>
          <a:xfrm>
            <a:off x="457200" y="292680"/>
            <a:ext cx="54853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293" strike="noStrike">
                <a:solidFill>
                  <a:srgbClr val="ffffff"/>
                </a:solidFill>
                <a:latin typeface="Calibri"/>
                <a:ea typeface="Calibri"/>
              </a:rPr>
              <a:t>CONFIGURATION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Text 1"/>
          <p:cNvSpPr/>
          <p:nvPr/>
        </p:nvSpPr>
        <p:spPr>
          <a:xfrm>
            <a:off x="457200" y="1005840"/>
            <a:ext cx="822852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666666"/>
                </a:solidFill>
                <a:latin typeface="Calibri"/>
                <a:ea typeface="Calibri"/>
              </a:rPr>
              <a:t>Claude App on GitHub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 2"/>
          <p:cNvSpPr/>
          <p:nvPr/>
        </p:nvSpPr>
        <p:spPr>
          <a:xfrm>
            <a:off x="457200" y="1528200"/>
            <a:ext cx="822852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666666"/>
                </a:solidFill>
                <a:latin typeface="Calibri"/>
                <a:ea typeface="Calibri"/>
              </a:rPr>
              <a:t>OAuth token (claude setup-token)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Text 3"/>
          <p:cNvSpPr/>
          <p:nvPr/>
        </p:nvSpPr>
        <p:spPr>
          <a:xfrm>
            <a:off x="457200" y="2050920"/>
            <a:ext cx="822852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666666"/>
                </a:solidFill>
                <a:latin typeface="Calibri"/>
                <a:ea typeface="Calibri"/>
              </a:rPr>
              <a:t>Jira API token + URL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Text 4"/>
          <p:cNvSpPr/>
          <p:nvPr/>
        </p:nvSpPr>
        <p:spPr>
          <a:xfrm>
            <a:off x="457200" y="2573280"/>
            <a:ext cx="822852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666666"/>
                </a:solidFill>
                <a:latin typeface="Calibri"/>
                <a:ea typeface="Calibri"/>
              </a:rPr>
              <a:t>Fine-grained PAT (trigger)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Text 5"/>
          <p:cNvSpPr/>
          <p:nvPr/>
        </p:nvSpPr>
        <p:spPr>
          <a:xfrm>
            <a:off x="457200" y="3096000"/>
            <a:ext cx="822852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666666"/>
                </a:solidFill>
                <a:latin typeface="Calibri"/>
                <a:ea typeface="Calibri"/>
              </a:rPr>
              <a:t>Workflow permissions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ext 6"/>
          <p:cNvSpPr/>
          <p:nvPr/>
        </p:nvSpPr>
        <p:spPr>
          <a:xfrm>
            <a:off x="457200" y="3618360"/>
            <a:ext cx="822852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666666"/>
                </a:solidFill>
                <a:latin typeface="Calibri"/>
                <a:ea typeface="Calibri"/>
              </a:rPr>
              <a:t>Automation Rule in Jira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 7"/>
          <p:cNvSpPr/>
          <p:nvPr/>
        </p:nvSpPr>
        <p:spPr>
          <a:xfrm>
            <a:off x="457200" y="4141080"/>
            <a:ext cx="8228520" cy="4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Workflow jira-agent.yaml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 0"/>
          <p:cNvSpPr/>
          <p:nvPr/>
        </p:nvSpPr>
        <p:spPr>
          <a:xfrm>
            <a:off x="457200" y="2066400"/>
            <a:ext cx="822852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6000" spc="-1" strike="noStrike">
                <a:solidFill>
                  <a:srgbClr val="ffffff"/>
                </a:solidFill>
                <a:latin typeface="Calibri"/>
                <a:ea typeface="Calibri"/>
              </a:rPr>
              <a:t>Thank you!</a:t>
            </a:r>
            <a:endParaRPr b="0" lang="pt-BR" sz="6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2026-06-15T17:28:20Z</dcterms:created>
  <dc:creator>PptxGenJS</dc:creator>
  <dc:description/>
  <dc:language>pt-BR</dc:language>
  <cp:lastModifiedBy/>
  <dcterms:modified xsi:type="dcterms:W3CDTF">2026-06-16T08:40:41Z</dcterms:modified>
  <cp:revision>4</cp:revision>
  <dc:subject>PptxGenJS Presentation</dc:subject>
  <dc:title>Jira Coding Agent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29</vt:i4>
  </property>
  <property fmtid="{D5CDD505-2E9C-101B-9397-08002B2CF9AE}" pid="3" name="PresentationFormat">
    <vt:lpwstr>On-screen Show (16:9)</vt:lpwstr>
  </property>
  <property fmtid="{D5CDD505-2E9C-101B-9397-08002B2CF9AE}" pid="4" name="Slides">
    <vt:i4>29</vt:i4>
  </property>
</Properties>
</file>